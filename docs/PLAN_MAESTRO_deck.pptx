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DejaVu Sans"/>
              </a:rPr>
              <a:t>Dinero público →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A636"/>
                </a:solidFill>
                <a:latin typeface="DejaVu Sans"/>
              </a:rPr>
              <a:t>PLAN MAESTRO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8046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Un marco para medir evolución, rendimiento y escenarios fiscales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FCDDB"/>
                </a:solidFill>
                <a:latin typeface="DejaVu Sans"/>
              </a:rPr>
              <a:t>TFM · versión ejecutiva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005840"/>
            <a:ext cx="2240280" cy="438912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1160" y="1417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DejaVu Sans"/>
              </a:rPr>
              <a:t>1900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14884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BA636"/>
                </a:solidFill>
                <a:latin typeface="DejaVu San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90779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DejaVu Sans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3977639"/>
            <a:ext cx="1691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DejaVu Sans"/>
              </a:rPr>
              <a:t>datos · modelos</a:t>
            </a:r>
            <a:br/>
            <a:r>
              <a:t>incertidumbre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17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B2C2"/>
                </a:solidFill>
                <a:latin typeface="DejaVu Sans"/>
              </a:rPr>
              <a:t>18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La pregunta es simple. La respuesta no puede ser una liga.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01F36"/>
                </a:solidFill>
                <a:latin typeface="DejaVu Sans"/>
              </a:rPr>
              <a:t>¿Qué país convierte mejor el dinero público en resultados</a:t>
            </a:r>
            <a:r>
              <a:rPr sz="2500" b="0">
                <a:solidFill>
                  <a:srgbClr val="5D697A"/>
                </a:solidFill>
                <a:latin typeface="DejaVu Sans"/>
              </a:rPr>
              <a:t> — dadas sus condiciones y la incertidumbre?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291840" cy="205740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73152" cy="205740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7180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Medir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10712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Resultados observados frente a resultados esperados, controlando renta, demografía, gobernanza y capacidad estadística.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88920"/>
            <a:ext cx="3291840" cy="205740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788920"/>
            <a:ext cx="73152" cy="205740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97180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Comparar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410712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Funnel plots por grupo de renta e intervalos conformales: posiciones, no podios.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788920"/>
            <a:ext cx="3291840" cy="205740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788920"/>
            <a:ext cx="73152" cy="205740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97180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Proyectar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410712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Escenarios condicionados con consecuencias y deuda; nunca una recomendación política única.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A4949"/>
                </a:solidFill>
                <a:latin typeface="DejaVu Sans"/>
              </a:rPr>
              <a:t>Principio rector: rendimiento ajustado ≠ causalidad ≠ eficiencia absoluta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DECISIÓN DE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Un programa amplio; un TFM deliberadamente acotado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333756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73152" cy="333756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Núcleo demostrable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21992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Vista C vivienda o módulo global de sanidad. Una pregunta, un outcome emparejado, un funnel defendible.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3474720" cy="333756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1688" y="1600200"/>
            <a:ext cx="73152" cy="333756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Capítulo descriptivo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21992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Atlas de evolución: 15 preguntas, figuras comparables y caveats explícitos. Sin forzar series históricas inexistentes.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600200"/>
            <a:ext cx="3474720" cy="333756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7575" y="1600200"/>
            <a:ext cx="73152" cy="333756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7830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Predicción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221992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Panel trimestral CCAA, baselines obligatorios y backtesting. DL solo como comparador.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303520"/>
            <a:ext cx="10826496" cy="694944"/>
          </a:xfrm>
          <a:prstGeom prst="roundRect">
            <a:avLst/>
          </a:prstGeom>
          <a:solidFill>
            <a:srgbClr val="101F36"/>
          </a:solidFill>
          <a:ln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F5–F9 quedan como continuación natural del programa, salvo requisito expreso de la vista elegida.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Cuatro bloques conectan descripción, explicación y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68880" cy="2423160"/>
          </a:xfrm>
          <a:prstGeom prst="roundRect">
            <a:avLst/>
          </a:prstGeom>
          <a:solidFill>
            <a:srgbClr val="F2F6F8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770B4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EVOLUCIÓN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1900–2023</a:t>
            </a:r>
            <a:br/>
            <a:r>
              <a:t>15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67004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468880" cy="2423160"/>
          </a:xfrm>
          <a:prstGeom prst="roundRect">
            <a:avLst/>
          </a:prstGeom>
          <a:solidFill>
            <a:srgbClr val="F2F6F8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574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29385"/>
                </a:solidFill>
                <a:latin typeface="DejaVu San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488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7180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gasto → outcome</a:t>
            </a:r>
            <a:br/>
            <a:r>
              <a:t>ajustado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67004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2468880" cy="2423160"/>
          </a:xfrm>
          <a:prstGeom prst="roundRect">
            <a:avLst/>
          </a:prstGeom>
          <a:solidFill>
            <a:srgbClr val="F2F6F8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BA636"/>
                </a:solidFill>
                <a:latin typeface="DejaVu San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1488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PREDICCIÓN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97180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forecast +</a:t>
            </a:r>
            <a:br/>
            <a:r>
              <a:t>escenarios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67004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828800"/>
            <a:ext cx="2468880" cy="2423160"/>
          </a:xfrm>
          <a:prstGeom prst="roundRect">
            <a:avLst/>
          </a:prstGeom>
          <a:solidFill>
            <a:srgbClr val="F2F6F8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A4949"/>
                </a:solidFill>
                <a:latin typeface="DejaVu Sans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1488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POLÍTICA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971800"/>
            <a:ext cx="1828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menú de</a:t>
            </a:r>
            <a:br/>
            <a:r>
              <a:t>consecuencias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983480"/>
            <a:ext cx="6355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CA4949"/>
                </a:solidFill>
                <a:latin typeface="DejaVu Sans"/>
              </a:rPr>
              <a:t>La elección política permanece fuera del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486400"/>
            <a:ext cx="81838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El trabajo estima patrones, incertidumbre y trade-offs; no decide qué debe despriorizarse.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La base de datos ya existe y ha pasado controles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51460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9385"/>
                </a:solidFill>
                <a:latin typeface="DejaVu Sa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datasets 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51460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7830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3770B4"/>
                </a:solidFill>
                <a:latin typeface="DejaVu Sa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3317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tablas gold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251460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EBA636"/>
                </a:solidFill>
                <a:latin typeface="DejaVu Sans"/>
              </a:rPr>
              <a:t>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países en GMD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00200"/>
            <a:ext cx="251460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7830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A4949"/>
                </a:solidFill>
                <a:latin typeface="DejaVu Sans"/>
              </a:rPr>
              <a:t>1900–2030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317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historia + ancla WEO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447288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337560"/>
            <a:ext cx="63825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UE: gasto funcional × económico, ingresos, déficit y deuda (1995–2023)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950208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840480"/>
            <a:ext cx="63825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Global: WEO, GHED, outcomes sociales y demográficos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453128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343400"/>
            <a:ext cx="63825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Histórico: GMD + JST; 158 países con observaciones pre-1995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956048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846320"/>
            <a:ext cx="63825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España: panel trimestral, CCAA, precios, salarios y vivienda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46120"/>
            <a:ext cx="3429000" cy="196596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09560" y="3246120"/>
            <a:ext cx="73152" cy="196596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34290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Pendiente inmediato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867911"/>
            <a:ext cx="29718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Desempleo · intereses D41 · pensiones y población ≥65 · extras históricos D62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5321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9385"/>
                </a:solidFill>
                <a:latin typeface="DejaVu Sans"/>
              </a:rPr>
              <a:t>Regla de calidad: nada entra en gold sin smoke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BLOQUE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El atlas cuenta “el siglo del Estado” con una gramática común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73152" cy="141732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Tamaño fiscal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219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gasto · ingresos · déficit · deuda · intereses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73152" cy="141732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7830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Composición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219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salarios · capital · vivienda · sanidad · protección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38328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73152" cy="141732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7830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Presiones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2219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paro · pensiones · migración · ayuda internacional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F36"/>
                </a:solidFill>
                <a:latin typeface="DejaVu Sans"/>
              </a:rPr>
              <a:t>Plantilla de cada figura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95928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886200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mediana mundial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89120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279392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selección estable de países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82312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672584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España destacada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75504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065776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DejaVu Sans"/>
              </a:rPr>
              <a:t>eras y rupturas anotadas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3401568"/>
            <a:ext cx="6263640" cy="210312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72160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3770B4"/>
                </a:solidFill>
                <a:latin typeface="DejaVu Sans"/>
              </a:rPr>
              <a:t>10,2%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73075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372160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9385"/>
                </a:solidFill>
                <a:latin typeface="DejaVu Sans"/>
              </a:rPr>
              <a:t>29,8%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480560"/>
            <a:ext cx="5440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mediana mundial del gasto público: primera era → era reciente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02920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4949"/>
                </a:solidFill>
                <a:latin typeface="DejaVu Sans"/>
              </a:rPr>
              <a:t>No se interpola un desglose funcional continuo antes de ~1970.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El rendimiento ajustado se estima dentro de un protocolo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57400" cy="219456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01168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3770B4"/>
                </a:solidFill>
                <a:latin typeface="DejaVu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F36"/>
                </a:solidFill>
                <a:latin typeface="DejaVu Sans"/>
              </a:rPr>
              <a:t>Preparar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8211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medias 5a · retardos 3–5a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57400" cy="219456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01168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9385"/>
                </a:solidFill>
                <a:latin typeface="DejaVu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6148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F36"/>
                </a:solidFill>
                <a:latin typeface="DejaVu Sans"/>
              </a:rPr>
              <a:t>Predecir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18211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OLS/GAM → 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57400" cy="219456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201168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EBA636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6148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F36"/>
                </a:solidFill>
                <a:latin typeface="DejaVu Sans"/>
              </a:rPr>
              <a:t>Ajustar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318211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residual = observado − esperado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57400" cy="219456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01168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A4949"/>
                </a:solidFill>
                <a:latin typeface="DejaVu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276148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F36"/>
                </a:solidFill>
                <a:latin typeface="DejaVu Sans"/>
              </a:rPr>
              <a:t>Calibrar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18211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conformal por renta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67004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57400" cy="2194560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201168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01F36"/>
                </a:solidFill>
                <a:latin typeface="DejaVu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76148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F36"/>
                </a:solidFill>
                <a:latin typeface="DejaVu Sans"/>
              </a:rPr>
              <a:t>Auditar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18211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A"/>
                </a:solidFill>
                <a:latin typeface="DejaVu Sans"/>
              </a:rPr>
              <a:t>LOCO · bloques · multiverso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17720"/>
            <a:ext cx="10835640" cy="868680"/>
          </a:xfrm>
          <a:prstGeom prst="roundRect">
            <a:avLst/>
          </a:prstGeom>
          <a:solidFill>
            <a:srgbClr val="101F36"/>
          </a:solidFill>
          <a:ln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DejaVu Sans"/>
              </a:rPr>
              <a:t>Criterio de aceptación: residual ⟂ renta y residual ⟂ SPI dentro de cada grupo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833872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97A"/>
                </a:solidFill>
                <a:latin typeface="DejaVu Sans"/>
              </a:rPr>
              <a:t>Encuadre no causal · intervalos visibles · estabilidad Spearman reportada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ML / 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El tamaño efectivo de muestra decide la herramienta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10881360" cy="694944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91440" cy="694944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739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GBM + SHAP + conformal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77393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DejaVu Sans"/>
              </a:rPr>
              <a:t>rendimiento y composición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73936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D697A"/>
                </a:solidFill>
                <a:latin typeface="DejaVu Sans"/>
              </a:rPr>
              <a:t>N panel suficiente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32888"/>
            <a:ext cx="10881360" cy="694944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532888"/>
            <a:ext cx="91440" cy="694944"/>
          </a:xfrm>
          <a:prstGeom prst="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PCA · clustering · DTW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0662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DejaVu Sans"/>
              </a:rPr>
              <a:t>tipologías y trayectorias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0662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D697A"/>
                </a:solidFill>
                <a:latin typeface="DejaVu Sans"/>
              </a:rPr>
              <a:t>siglo fiscal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65576"/>
            <a:ext cx="10881360" cy="694944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465576"/>
            <a:ext cx="91440" cy="694944"/>
          </a:xfrm>
          <a:prstGeom prst="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SARIMAX / 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639312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DejaVu Sans"/>
              </a:rPr>
              <a:t>forecast trimestral CCAA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3931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D697A"/>
                </a:solidFill>
                <a:latin typeface="DejaVu Sans"/>
              </a:rPr>
              <a:t>rolling backtest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98264"/>
            <a:ext cx="10881360" cy="694944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91440" cy="694944"/>
          </a:xfrm>
          <a:prstGeom prst="rect">
            <a:avLst/>
          </a:prstGeom>
          <a:solidFill>
            <a:srgbClr val="CA4949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N-BEATS / DeepAR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5720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DejaVu Sans"/>
              </a:rPr>
              <a:t>comparador, no protagonista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D697A"/>
                </a:solidFill>
                <a:latin typeface="DejaVu Sans"/>
              </a:rPr>
              <a:t>solo si bate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A4949"/>
                </a:solidFill>
                <a:latin typeface="DejaVu Sans"/>
              </a:rPr>
              <a:t>Descartes explícitos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449824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sin LSTM/TFT primario · sin GNN a ~150 nodos · sin LLM como extractor masivo · sin liga mundial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BLOQUE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Predicción: competir contra lo simple y publicar el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383280" cy="342900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3152" cy="342900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Modo 1 · Forecast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76272"/>
            <a:ext cx="29260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Panel trimestral CCAA. Naive/ETS → SARIMAX/GBM → N-BEATS/DeepAR. Evaluación rolling-origin a 4–8 trimestres.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342900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73152" cy="342900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Modo 2 · Proyección condicionada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76272"/>
            <a:ext cx="29260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Sendas alternativas de gasto y composición. El modelo A1 proyecta outcomes con intervalos conformales.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342900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73152" cy="342900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7373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Modo 3 · Ancla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176272"/>
            <a:ext cx="29260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Proyecciones FMI-WEO hasta 2030 para contraste y consistencia macro.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9829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01F36"/>
                </a:solidFill>
                <a:latin typeface="DejaVu Sans"/>
              </a:rPr>
              <a:t>“Batir al naive es noticia; no batirlo también se publica.”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BLOQUE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Del “plan fiscal” al simulador de escenarios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D697A"/>
                </a:solidFill>
                <a:latin typeface="DejaVu Sans"/>
              </a:rPr>
              <a:t>ENTRADAS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6459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D697A"/>
                </a:solidFill>
                <a:latin typeface="DejaVu Sans"/>
              </a:rPr>
              <a:t>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6459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D697A"/>
                </a:solidFill>
                <a:latin typeface="DejaVu Sans"/>
              </a:rPr>
              <a:t>SALIDAS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2743200" cy="256032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73152" cy="256032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Sendas alternativas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24912"/>
            <a:ext cx="2286000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+0,5 pp vivienda</a:t>
            </a:r>
            <a:br/>
            <a:r>
              <a:t>+0,5 pp inversión</a:t>
            </a:r>
            <a:br/>
            <a:r>
              <a:t>−X pp partida Y</a:t>
            </a:r>
            <a:br/>
            <a:r>
              <a:t>saldo primario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27248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103120"/>
            <a:ext cx="3657600" cy="256032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2103120"/>
            <a:ext cx="73152" cy="256032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22860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Dos 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724912"/>
            <a:ext cx="3200400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Aritmética de deuda r−g</a:t>
            </a:r>
            <a:br/>
            <a:r>
              <a:t>+</a:t>
            </a:r>
            <a:br/>
            <a:r>
              <a:t>Proyección condicionada de resultados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127248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5D697A"/>
                </a:solidFill>
                <a:latin typeface="DejaVu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2103120"/>
            <a:ext cx="2743200" cy="256032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85632" y="2103120"/>
            <a:ext cx="73152" cy="256032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1663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Matriz de consecuencias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3" y="2724912"/>
            <a:ext cx="2286000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deuda 2024–2035</a:t>
            </a:r>
            <a:br/>
            <a:r>
              <a:t>outcomes esperados</a:t>
            </a:r>
            <a:br/>
            <a:r>
              <a:t>intervalos</a:t>
            </a:r>
            <a:br/>
            <a:r>
              <a:t>trade-offs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257800"/>
            <a:ext cx="9555480" cy="658368"/>
          </a:xfrm>
          <a:prstGeom prst="roundRect">
            <a:avLst/>
          </a:prstGeom>
          <a:solidFill>
            <a:srgbClr val="101F36"/>
          </a:solidFill>
          <a:ln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5440680"/>
            <a:ext cx="9006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DejaVu Sans"/>
              </a:rPr>
              <a:t>Producto científico: menú comparable. Elección final: política.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PLAN DE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Diez semanas, tres gates y un buffer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234440" cy="1417320"/>
          </a:xfrm>
          <a:prstGeom prst="roundRect">
            <a:avLst/>
          </a:prstGeom>
          <a:solidFill>
            <a:srgbClr val="CA4949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031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78608"/>
            <a:ext cx="1088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gate tutor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2808" y="1874519"/>
            <a:ext cx="1463040" cy="141732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103120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S2–3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578608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entregas + atlas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874519"/>
            <a:ext cx="1463040" cy="141732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2103120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S4–5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578608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sanidad + funnel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74519"/>
            <a:ext cx="1234440" cy="141732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21031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578608"/>
            <a:ext cx="1088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vivienda + cierre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874519"/>
            <a:ext cx="1234440" cy="141732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1031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578608"/>
            <a:ext cx="1088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forecast + síntesis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1874519"/>
            <a:ext cx="1234440" cy="141732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2" y="21031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2" y="2578608"/>
            <a:ext cx="1088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app + memoria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1874519"/>
            <a:ext cx="1234440" cy="1417320"/>
          </a:xfrm>
          <a:prstGeom prst="roundRect">
            <a:avLst/>
          </a:prstGeom>
          <a:solidFill>
            <a:srgbClr val="CA4949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1031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78608"/>
            <a:ext cx="1088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borrador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15016" y="1874519"/>
            <a:ext cx="1463040" cy="1417320"/>
          </a:xfrm>
          <a:prstGeom prst="roundRect">
            <a:avLst/>
          </a:prstGeom>
          <a:solidFill>
            <a:srgbClr val="101F36"/>
          </a:solidFill>
          <a:ln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88168" y="2103120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ejaVu Sans"/>
              </a:rPr>
              <a:t>S10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8168" y="2578608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DejaVu Sans"/>
              </a:rPr>
              <a:t>buffer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Gates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27448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617720"/>
            <a:ext cx="5102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DejaVu Sans"/>
              </a:rPr>
              <a:t>S1: aval escrito y vista elegida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120640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010912"/>
            <a:ext cx="5102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DejaVu Sans"/>
              </a:rPr>
              <a:t>S5: primer funnel y checkpoint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513832"/>
            <a:ext cx="82296" cy="82296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404104"/>
            <a:ext cx="5102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DejaVu Sans"/>
              </a:rPr>
              <a:t>S9: borrador completo para revisión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4279392"/>
            <a:ext cx="4343400" cy="1481328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03720" y="4279392"/>
            <a:ext cx="73152" cy="1481328"/>
          </a:xfrm>
          <a:prstGeom prst="roundRect">
            <a:avLst/>
          </a:prstGeom>
          <a:solidFill>
            <a:srgbClr val="CA4949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9752" y="4462272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Línea roja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4901183"/>
            <a:ext cx="3886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Si el alcance vuelve a crecer, se sacrifica profundidad, reproducibilidad y defensa.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SALIDAS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Cinco productos convierten el análisis en una entrega coherente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9385"/>
                </a:solidFill>
                <a:latin typeface="DejaVu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F36"/>
                </a:solidFill>
                <a:latin typeface="DejaVu Sans"/>
              </a:rPr>
              <a:t>Memoria TFM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50876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97A"/>
                </a:solidFill>
                <a:latin typeface="DejaVu Sans"/>
              </a:rPr>
              <a:t>método · límites · reproducibilidad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0561320" cy="18288"/>
          </a:xfrm>
          <a:prstGeom prst="rect">
            <a:avLst/>
          </a:prstGeom>
          <a:solidFill>
            <a:srgbClr val="E1E6E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9385"/>
                </a:solidFill>
                <a:latin typeface="DejaVu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048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F36"/>
                </a:solidFill>
                <a:latin typeface="DejaVu Sans"/>
              </a:rPr>
              <a:t>Atlas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04872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97A"/>
                </a:solidFill>
                <a:latin typeface="DejaVu Sans"/>
              </a:rPr>
              <a:t>15 figuras + tabla de eras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07791"/>
            <a:ext cx="10561320" cy="18288"/>
          </a:xfrm>
          <a:prstGeom prst="rect">
            <a:avLst/>
          </a:prstGeom>
          <a:solidFill>
            <a:srgbClr val="E1E6E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0098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9385"/>
                </a:solidFill>
                <a:latin typeface="DejaVu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0098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F36"/>
                </a:solidFill>
                <a:latin typeface="DejaVu Sans"/>
              </a:rPr>
              <a:t>Funnels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00984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97A"/>
                </a:solidFill>
                <a:latin typeface="DejaVu Sans"/>
              </a:rPr>
              <a:t>rendimiento ajustado por módulo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03904"/>
            <a:ext cx="10561320" cy="18288"/>
          </a:xfrm>
          <a:prstGeom prst="rect">
            <a:avLst/>
          </a:prstGeom>
          <a:solidFill>
            <a:srgbClr val="E1E6E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97096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9385"/>
                </a:solidFill>
                <a:latin typeface="DejaVu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9709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F36"/>
                </a:solidFill>
                <a:latin typeface="DejaVu Sans"/>
              </a:rPr>
              <a:t>Simulador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97096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97A"/>
                </a:solidFill>
                <a:latin typeface="DejaVu Sans"/>
              </a:rPr>
              <a:t>deuda + composición + outcomes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00016"/>
            <a:ext cx="10561320" cy="18288"/>
          </a:xfrm>
          <a:prstGeom prst="rect">
            <a:avLst/>
          </a:prstGeom>
          <a:solidFill>
            <a:srgbClr val="E1E6E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9320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9385"/>
                </a:solidFill>
                <a:latin typeface="DejaVu Sa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932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F36"/>
                </a:solidFill>
                <a:latin typeface="DejaVu Sans"/>
              </a:rPr>
              <a:t>App + 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09320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97A"/>
                </a:solidFill>
                <a:latin typeface="DejaVu Sans"/>
              </a:rPr>
              <a:t>exploración reproducible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96128"/>
            <a:ext cx="10561320" cy="18288"/>
          </a:xfrm>
          <a:prstGeom prst="rect">
            <a:avLst/>
          </a:prstGeom>
          <a:solidFill>
            <a:srgbClr val="E1E6EA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Los riesgos están en primera plana — con controles concretos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66360" cy="111556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82296" cy="1115568"/>
          </a:xfrm>
          <a:prstGeom prst="roundRect">
            <a:avLst/>
          </a:prstGeom>
          <a:solidFill>
            <a:srgbClr val="CA4949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Normatividad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73351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simular; no prescribir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166360" cy="111556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82296" cy="1115568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67335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Endogeneidad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73351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retardos + encuadre no causal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90088"/>
            <a:ext cx="5166360" cy="111556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990088"/>
            <a:ext cx="82296" cy="1115568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5468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Sesgo del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1546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procedencia + specs sin imputados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90088"/>
            <a:ext cx="5166360" cy="111556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2990088"/>
            <a:ext cx="82296" cy="1115568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315468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Comparabilidad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1546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histórico solo descriptivo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71416"/>
            <a:ext cx="5166360" cy="111556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471416"/>
            <a:ext cx="82296" cy="1115568"/>
          </a:xfrm>
          <a:prstGeom prst="roundRect">
            <a:avLst/>
          </a:prstGeom>
          <a:solidFill>
            <a:srgbClr val="CA4949"/>
          </a:solidFill>
          <a:ln>
            <a:solidFill>
              <a:srgbClr val="CA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36008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Goodhart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63600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intervalos + no-liga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71416"/>
            <a:ext cx="5166360" cy="1115568"/>
          </a:xfrm>
          <a:prstGeom prst="roundRect">
            <a:avLst/>
          </a:prstGeom>
          <a:solidFill>
            <a:srgbClr val="F2F6F8"/>
          </a:solidFill>
          <a:ln>
            <a:solidFill>
              <a:srgbClr val="F2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4471416"/>
            <a:ext cx="82296" cy="1115568"/>
          </a:xfrm>
          <a:prstGeom prst="roundRect">
            <a:avLst/>
          </a:prstGeom>
          <a:solidFill>
            <a:srgbClr val="101F36"/>
          </a:solidFill>
          <a:ln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636008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6"/>
                </a:solidFill>
                <a:latin typeface="DejaVu Sans"/>
              </a:rPr>
              <a:t>P-hacking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63600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97A"/>
                </a:solidFill>
                <a:latin typeface="DejaVu Sans"/>
              </a:rPr>
              <a:t>RQs y métricas pre-registradas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108192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4949"/>
                </a:solidFill>
                <a:latin typeface="DejaVu Sans"/>
              </a:rPr>
              <a:t>Límite que no desaparece: el residual también absorbe instituciones, historia, geografía e informalidad.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9385"/>
                </a:solidFill>
                <a:latin typeface="DejaVu Sans"/>
              </a:rPr>
              <a:t>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F36"/>
                </a:solidFill>
                <a:latin typeface="DejaVu Sans"/>
              </a:rPr>
              <a:t>La decisión inmediata es de alcance, no de algoritmo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5720"/>
          </a:xfrm>
          <a:prstGeom prst="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6A0AB"/>
                </a:solidFill>
                <a:latin typeface="DejaVu San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835640" cy="914400"/>
          </a:xfrm>
          <a:prstGeom prst="roundRect">
            <a:avLst/>
          </a:prstGeom>
          <a:solidFill>
            <a:srgbClr val="101F36"/>
          </a:solidFill>
          <a:ln>
            <a:solidFill>
              <a:srgbClr val="10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DejaVu Sans"/>
              </a:rPr>
              <a:t>Obtener el aval escrito del tutor y fijar una única vista central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324612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73152" cy="155448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Opción recomendada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8503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Vivienda UE como núcleo complementario del marco integral.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063240"/>
            <a:ext cx="324612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3063240"/>
            <a:ext cx="73152" cy="1554480"/>
          </a:xfrm>
          <a:prstGeom prst="roundRect">
            <a:avLst/>
          </a:prstGeom>
          <a:solidFill>
            <a:srgbClr val="3770B4"/>
          </a:solidFill>
          <a:ln>
            <a:solidFill>
              <a:srgbClr val="37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3246120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Alternativa sólida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68503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Sanidad global: mayor N y módulo A1 más directo.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063240"/>
            <a:ext cx="324612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E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3063240"/>
            <a:ext cx="73152" cy="1554480"/>
          </a:xfrm>
          <a:prstGeom prst="roundRect">
            <a:avLst/>
          </a:prstGeom>
          <a:solidFill>
            <a:srgbClr val="EBA636"/>
          </a:solidFill>
          <a:ln>
            <a:solidFill>
              <a:srgbClr val="E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246120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6"/>
                </a:solidFill>
                <a:latin typeface="DejaVu Sans"/>
              </a:rPr>
              <a:t>Después del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68503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97A"/>
                </a:solidFill>
                <a:latin typeface="DejaVu Sans"/>
              </a:rPr>
              <a:t>Re-pulls menores → atlas núcleo → primer funnel.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623560"/>
            <a:ext cx="9921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1F36"/>
                </a:solidFill>
                <a:latin typeface="DejaVu Sans"/>
              </a:rPr>
              <a:t>Criterio de éxito del TFM: una afirmación modesta, reproducible y difícil de desmontar.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DejaVu Sans"/>
              </a:rPr>
              <a:t>Relevante y original. Defendible si se mantiene el recorte.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544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A636"/>
                </a:solidFill>
                <a:latin typeface="DejaVu Sans"/>
              </a:rPr>
              <a:t>Tres compromisos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148840"/>
            <a:ext cx="292608" cy="292608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057400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DejaVu Sans"/>
              </a:rPr>
              <a:t>alcance TFM radicalmente acotado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108960"/>
            <a:ext cx="292608" cy="292608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017520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DejaVu Sans"/>
              </a:rPr>
              <a:t>escenarios, no prescripción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069080"/>
            <a:ext cx="292608" cy="292608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977639"/>
            <a:ext cx="7223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DejaVu Sans"/>
              </a:rPr>
              <a:t>causalidad limitada en primera plana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8978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9BCCC"/>
                </a:solidFill>
                <a:latin typeface="DejaVu Sans"/>
              </a:rPr>
              <a:t>Dinero público → resultados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417320"/>
            <a:ext cx="1554480" cy="3840480"/>
          </a:xfrm>
          <a:prstGeom prst="roundRect">
            <a:avLst/>
          </a:prstGeom>
          <a:solidFill>
            <a:srgbClr val="129385"/>
          </a:solidFill>
          <a:ln>
            <a:solidFill>
              <a:srgbClr val="1293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874519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606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BA636"/>
                </a:solidFill>
                <a:latin typeface="DejaVu San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3375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DUDAR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977639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BA636"/>
                </a:solidFill>
                <a:latin typeface="DejaVu San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459028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DECIDIR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Dinero público → resultados — Plan Maestro</dc:title>
  <dc:subject>Deck ejecutivo basado en PLAN_MAESTRO.md</dc:subject>
  <dc:creator>Proyecto evo_final_work</dc:creator>
  <cp:keywords/>
  <dc:description>Generado desde docs/PLAN_MAESTRO.md el 2026-07-18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